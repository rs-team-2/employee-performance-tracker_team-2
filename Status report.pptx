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57ad7c71a_0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57ad7c7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57ad7c71a_0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57ad7c71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c6fa3c898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c6fa3c89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57ad7c71a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57ad7c71a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57ad7c71a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57ad7c71a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57ad7c71a_0_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57ad7c71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57ad7c71a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57ad7c71a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c6fa3c898_0_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c6fa3c89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hyperlink" Target="http://main.p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603150" y="630225"/>
            <a:ext cx="81000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Times New Roman"/>
                <a:ea typeface="Times New Roman"/>
                <a:cs typeface="Times New Roman"/>
                <a:sym typeface="Times New Roman"/>
              </a:rPr>
              <a:t>Mini-Project</a:t>
            </a:r>
            <a:endParaRPr sz="2800">
              <a:latin typeface="Times New Roman"/>
              <a:ea typeface="Times New Roman"/>
              <a:cs typeface="Times New Roman"/>
              <a:sym typeface="Times New Roman"/>
            </a:endParaRPr>
          </a:p>
          <a:p>
            <a:pPr indent="0" lvl="0" marL="0" rtl="0" algn="l">
              <a:spcBef>
                <a:spcPts val="0"/>
              </a:spcBef>
              <a:spcAft>
                <a:spcPts val="0"/>
              </a:spcAft>
              <a:buNone/>
            </a:pPr>
            <a:r>
              <a:rPr lang="en" sz="2800">
                <a:latin typeface="Times New Roman"/>
                <a:ea typeface="Times New Roman"/>
                <a:cs typeface="Times New Roman"/>
                <a:sym typeface="Times New Roman"/>
              </a:rPr>
              <a:t>Employee Performance Tracking System</a:t>
            </a:r>
            <a:endParaRPr sz="2800">
              <a:latin typeface="Times New Roman"/>
              <a:ea typeface="Times New Roman"/>
              <a:cs typeface="Times New Roman"/>
              <a:sym typeface="Times New Roman"/>
            </a:endParaRPr>
          </a:p>
        </p:txBody>
      </p:sp>
      <p:sp>
        <p:nvSpPr>
          <p:cNvPr id="73" name="Google Shape;73;p13"/>
          <p:cNvSpPr txBox="1"/>
          <p:nvPr>
            <p:ph idx="1" type="subTitle"/>
          </p:nvPr>
        </p:nvSpPr>
        <p:spPr>
          <a:xfrm>
            <a:off x="603150" y="2061200"/>
            <a:ext cx="6274500" cy="206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Group Members Name :</a:t>
            </a:r>
            <a:endParaRPr/>
          </a:p>
          <a:p>
            <a:pPr indent="-342900" lvl="0" marL="457200" rtl="0" algn="l">
              <a:spcBef>
                <a:spcPts val="0"/>
              </a:spcBef>
              <a:spcAft>
                <a:spcPts val="0"/>
              </a:spcAft>
              <a:buSzPts val="1800"/>
              <a:buAutoNum type="arabicPeriod"/>
            </a:pPr>
            <a:r>
              <a:rPr lang="en"/>
              <a:t>Ansh Tripathi</a:t>
            </a:r>
            <a:endParaRPr/>
          </a:p>
          <a:p>
            <a:pPr indent="-342900" lvl="0" marL="457200" rtl="0" algn="l">
              <a:spcBef>
                <a:spcPts val="0"/>
              </a:spcBef>
              <a:spcAft>
                <a:spcPts val="0"/>
              </a:spcAft>
              <a:buSzPts val="1800"/>
              <a:buAutoNum type="arabicPeriod"/>
            </a:pPr>
            <a:r>
              <a:rPr lang="en"/>
              <a:t>Akash Modak</a:t>
            </a:r>
            <a:endParaRPr/>
          </a:p>
          <a:p>
            <a:pPr indent="-342900" lvl="0" marL="457200" rtl="0" algn="l">
              <a:spcBef>
                <a:spcPts val="0"/>
              </a:spcBef>
              <a:spcAft>
                <a:spcPts val="0"/>
              </a:spcAft>
              <a:buSzPts val="1800"/>
              <a:buAutoNum type="arabicPeriod"/>
            </a:pPr>
            <a:r>
              <a:rPr lang="en"/>
              <a:t>Ishaan Jain</a:t>
            </a:r>
            <a:endParaRPr/>
          </a:p>
          <a:p>
            <a:pPr indent="-342900" lvl="0" marL="457200" rtl="0" algn="l">
              <a:spcBef>
                <a:spcPts val="0"/>
              </a:spcBef>
              <a:spcAft>
                <a:spcPts val="0"/>
              </a:spcAft>
              <a:buSzPts val="1800"/>
              <a:buAutoNum type="arabicPeriod"/>
            </a:pPr>
            <a:r>
              <a:rPr lang="en"/>
              <a:t>Rajni Jha</a:t>
            </a:r>
            <a:endParaRPr/>
          </a:p>
          <a:p>
            <a:pPr indent="-342900" lvl="0" marL="457200" rtl="0" algn="l">
              <a:spcBef>
                <a:spcPts val="0"/>
              </a:spcBef>
              <a:spcAft>
                <a:spcPts val="0"/>
              </a:spcAft>
              <a:buSzPts val="1800"/>
              <a:buAutoNum type="arabicPeriod"/>
            </a:pPr>
            <a:r>
              <a:rPr lang="en"/>
              <a:t>Santanu Kumar</a:t>
            </a:r>
            <a:endParaRPr/>
          </a:p>
          <a:p>
            <a:pPr indent="-342900" lvl="0" marL="457200" rtl="0" algn="l">
              <a:spcBef>
                <a:spcPts val="0"/>
              </a:spcBef>
              <a:spcAft>
                <a:spcPts val="0"/>
              </a:spcAft>
              <a:buSzPts val="1800"/>
              <a:buAutoNum type="arabicPeriod"/>
            </a:pPr>
            <a:r>
              <a:rPr lang="en"/>
              <a:t>Yashika Bhambhani</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2"/>
              </a:buClr>
              <a:buSzPts val="1100"/>
              <a:buFont typeface="Arial"/>
              <a:buNone/>
            </a:pPr>
            <a:r>
              <a:rPr lang="en" sz="2200">
                <a:highlight>
                  <a:schemeClr val="lt1"/>
                </a:highlight>
                <a:latin typeface="Times New Roman"/>
                <a:ea typeface="Times New Roman"/>
                <a:cs typeface="Times New Roman"/>
                <a:sym typeface="Times New Roman"/>
              </a:rPr>
              <a:t>Project overview</a:t>
            </a:r>
            <a:endParaRPr sz="4600">
              <a:highlight>
                <a:schemeClr val="lt1"/>
              </a:highlight>
              <a:latin typeface="Times New Roman"/>
              <a:ea typeface="Times New Roman"/>
              <a:cs typeface="Times New Roman"/>
              <a:sym typeface="Times New Roman"/>
            </a:endParaRPr>
          </a:p>
        </p:txBody>
      </p:sp>
      <p:sp>
        <p:nvSpPr>
          <p:cNvPr id="79" name="Google Shape;79;p14"/>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Font typeface="Arial"/>
              <a:buChar char="●"/>
            </a:pPr>
            <a:r>
              <a:rPr lang="en">
                <a:latin typeface="Arial"/>
                <a:ea typeface="Arial"/>
                <a:cs typeface="Arial"/>
                <a:sym typeface="Arial"/>
              </a:rPr>
              <a:t>A system to manage employees, projects, and performance reviews.</a:t>
            </a:r>
            <a:endParaRPr>
              <a:latin typeface="Arial"/>
              <a:ea typeface="Arial"/>
              <a:cs typeface="Arial"/>
              <a:sym typeface="Arial"/>
            </a:endParaRPr>
          </a:p>
          <a:p>
            <a:pPr indent="-342900" lvl="0" marL="457200" rtl="0" algn="l">
              <a:spcBef>
                <a:spcPts val="0"/>
              </a:spcBef>
              <a:spcAft>
                <a:spcPts val="0"/>
              </a:spcAft>
              <a:buSzPts val="1800"/>
              <a:buFont typeface="Arial"/>
              <a:buChar char="●"/>
            </a:pPr>
            <a:r>
              <a:rPr lang="en">
                <a:latin typeface="Arial"/>
                <a:ea typeface="Arial"/>
                <a:cs typeface="Arial"/>
                <a:sym typeface="Arial"/>
              </a:rPr>
              <a:t>HR and team leads can track assignments and evaluate performance.</a:t>
            </a:r>
            <a:endParaRPr b="1" sz="16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2364750" y="326475"/>
            <a:ext cx="6321600" cy="635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2"/>
              </a:buClr>
              <a:buSzPts val="1100"/>
              <a:buFont typeface="Arial"/>
              <a:buNone/>
            </a:pPr>
            <a:r>
              <a:rPr lang="en" sz="3600">
                <a:solidFill>
                  <a:schemeClr val="dk1"/>
                </a:solidFill>
                <a:latin typeface="Lato"/>
                <a:ea typeface="Lato"/>
                <a:cs typeface="Lato"/>
                <a:sym typeface="Lato"/>
              </a:rPr>
              <a:t>Accomplishments</a:t>
            </a:r>
            <a:endParaRPr sz="3600"/>
          </a:p>
        </p:txBody>
      </p:sp>
      <p:sp>
        <p:nvSpPr>
          <p:cNvPr id="85" name="Google Shape;85;p15"/>
          <p:cNvSpPr txBox="1"/>
          <p:nvPr>
            <p:ph idx="1" type="body"/>
          </p:nvPr>
        </p:nvSpPr>
        <p:spPr>
          <a:xfrm>
            <a:off x="2115200" y="1070550"/>
            <a:ext cx="3071400" cy="3351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Designed a relational database (SQLite) to store employee and project data.</a:t>
            </a:r>
            <a:endParaRPr>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
                <a:latin typeface="Times New Roman"/>
                <a:ea typeface="Times New Roman"/>
                <a:cs typeface="Times New Roman"/>
                <a:sym typeface="Times New Roman"/>
              </a:rPr>
              <a:t>Integrated SQL and NoSQL databases (SQLite + MongoDB) for different types of data.</a:t>
            </a:r>
            <a:endParaRPr>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
                <a:latin typeface="Times New Roman"/>
                <a:ea typeface="Times New Roman"/>
                <a:cs typeface="Times New Roman"/>
                <a:sym typeface="Times New Roman"/>
              </a:rPr>
              <a:t>Built Python modules to manage employees, projects, and performance reviews.</a:t>
            </a:r>
            <a:endParaRPr>
              <a:latin typeface="Times New Roman"/>
              <a:ea typeface="Times New Roman"/>
              <a:cs typeface="Times New Roman"/>
              <a:sym typeface="Times New Roman"/>
            </a:endParaRPr>
          </a:p>
          <a:p>
            <a:pPr indent="-317500" lvl="0" marL="457200" rtl="0" algn="l">
              <a:spcBef>
                <a:spcPts val="1200"/>
              </a:spcBef>
              <a:spcAft>
                <a:spcPts val="1200"/>
              </a:spcAft>
              <a:buSzPts val="1400"/>
              <a:buFont typeface="Times New Roman"/>
              <a:buChar char="●"/>
            </a:pPr>
            <a:r>
              <a:rPr b="1" lang="en">
                <a:latin typeface="Times New Roman"/>
                <a:ea typeface="Times New Roman"/>
                <a:cs typeface="Times New Roman"/>
                <a:sym typeface="Times New Roman"/>
              </a:rPr>
              <a:t>Organized code into modular components</a:t>
            </a:r>
            <a:r>
              <a:rPr lang="en">
                <a:latin typeface="Times New Roman"/>
                <a:ea typeface="Times New Roman"/>
                <a:cs typeface="Times New Roman"/>
                <a:sym typeface="Times New Roman"/>
              </a:rPr>
              <a:t> for maintainability.</a:t>
            </a:r>
            <a:endParaRPr>
              <a:latin typeface="Times New Roman"/>
              <a:ea typeface="Times New Roman"/>
              <a:cs typeface="Times New Roman"/>
              <a:sym typeface="Times New Roman"/>
            </a:endParaRPr>
          </a:p>
        </p:txBody>
      </p:sp>
      <p:sp>
        <p:nvSpPr>
          <p:cNvPr id="86" name="Google Shape;86;p15"/>
          <p:cNvSpPr txBox="1"/>
          <p:nvPr>
            <p:ph idx="2" type="body"/>
          </p:nvPr>
        </p:nvSpPr>
        <p:spPr>
          <a:xfrm>
            <a:off x="5531800" y="1070550"/>
            <a:ext cx="3071400" cy="3610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Implemented CRUD operations for storing and retrieving data.</a:t>
            </a:r>
            <a:endParaRPr>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
                <a:latin typeface="Times New Roman"/>
                <a:ea typeface="Times New Roman"/>
                <a:cs typeface="Times New Roman"/>
                <a:sym typeface="Times New Roman"/>
              </a:rPr>
              <a:t>Used SQL JOIN queries to generate employee–project reports.</a:t>
            </a:r>
            <a:endParaRPr>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
                <a:latin typeface="Times New Roman"/>
                <a:ea typeface="Times New Roman"/>
                <a:cs typeface="Times New Roman"/>
                <a:sym typeface="Times New Roman"/>
              </a:rPr>
              <a:t>Created a CLI-based application for managing company data.</a:t>
            </a:r>
            <a:endParaRPr>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
                <a:latin typeface="Times New Roman"/>
                <a:ea typeface="Times New Roman"/>
                <a:cs typeface="Times New Roman"/>
                <a:sym typeface="Times New Roman"/>
              </a:rPr>
              <a:t>Handled errors and ensured data integrity (e.g., duplicate email prevention).</a:t>
            </a:r>
            <a:br>
              <a:rPr lang="en">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200">
                <a:highlight>
                  <a:schemeClr val="lt1"/>
                </a:highlight>
                <a:latin typeface="Times New Roman"/>
                <a:ea typeface="Times New Roman"/>
                <a:cs typeface="Times New Roman"/>
                <a:sym typeface="Times New Roman"/>
              </a:rPr>
              <a:t>Technologies Used</a:t>
            </a:r>
            <a:endParaRPr sz="4600">
              <a:highlight>
                <a:schemeClr val="lt1"/>
              </a:highlight>
              <a:latin typeface="Times New Roman"/>
              <a:ea typeface="Times New Roman"/>
              <a:cs typeface="Times New Roman"/>
              <a:sym typeface="Times New Roman"/>
            </a:endParaRPr>
          </a:p>
        </p:txBody>
      </p:sp>
      <p:sp>
        <p:nvSpPr>
          <p:cNvPr id="92" name="Google Shape;92;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Font typeface="Times New Roman"/>
              <a:buChar char="●"/>
            </a:pPr>
            <a:r>
              <a:rPr b="1" lang="en" sz="1400">
                <a:latin typeface="Times New Roman"/>
                <a:ea typeface="Times New Roman"/>
                <a:cs typeface="Times New Roman"/>
                <a:sym typeface="Times New Roman"/>
              </a:rPr>
              <a:t>Python 3 – Application logic</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 sz="1400">
                <a:latin typeface="Times New Roman"/>
                <a:ea typeface="Times New Roman"/>
                <a:cs typeface="Times New Roman"/>
                <a:sym typeface="Times New Roman"/>
              </a:rPr>
              <a:t>SQLite – Relational database for structured data</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 sz="1400">
                <a:latin typeface="Times New Roman"/>
                <a:ea typeface="Times New Roman"/>
                <a:cs typeface="Times New Roman"/>
                <a:sym typeface="Times New Roman"/>
              </a:rPr>
              <a:t>MongoDB – NoSQL database for flexible review data</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 sz="1400">
                <a:latin typeface="Times New Roman"/>
                <a:ea typeface="Times New Roman"/>
                <a:cs typeface="Times New Roman"/>
                <a:sym typeface="Times New Roman"/>
              </a:rPr>
              <a:t>PyMongo – MongoDB Python driver</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 sz="1400">
                <a:latin typeface="Times New Roman"/>
                <a:ea typeface="Times New Roman"/>
                <a:cs typeface="Times New Roman"/>
                <a:sym typeface="Times New Roman"/>
              </a:rPr>
              <a:t>Pytest – Testing framework</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 sz="1400">
                <a:latin typeface="Times New Roman"/>
                <a:ea typeface="Times New Roman"/>
                <a:cs typeface="Times New Roman"/>
                <a:sym typeface="Times New Roman"/>
              </a:rPr>
              <a:t>Python-dotenv</a:t>
            </a:r>
            <a:endParaRPr b="1"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 sz="1400">
                <a:latin typeface="Times New Roman"/>
                <a:ea typeface="Times New Roman"/>
                <a:cs typeface="Times New Roman"/>
                <a:sym typeface="Times New Roman"/>
              </a:rPr>
              <a:t>Mongo Mock</a:t>
            </a:r>
            <a:endParaRPr b="1" sz="1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200">
                <a:latin typeface="Times New Roman"/>
                <a:ea typeface="Times New Roman"/>
                <a:cs typeface="Times New Roman"/>
                <a:sym typeface="Times New Roman"/>
              </a:rPr>
              <a:t>System Architecture</a:t>
            </a:r>
            <a:endParaRPr sz="2200">
              <a:highlight>
                <a:schemeClr val="lt1"/>
              </a:highlight>
              <a:latin typeface="Times New Roman"/>
              <a:ea typeface="Times New Roman"/>
              <a:cs typeface="Times New Roman"/>
              <a:sym typeface="Times New Roman"/>
            </a:endParaRPr>
          </a:p>
        </p:txBody>
      </p:sp>
      <p:sp>
        <p:nvSpPr>
          <p:cNvPr id="98" name="Google Shape;98;p17"/>
          <p:cNvSpPr txBox="1"/>
          <p:nvPr/>
        </p:nvSpPr>
        <p:spPr>
          <a:xfrm>
            <a:off x="5005750" y="1363050"/>
            <a:ext cx="3576300" cy="34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sz="1800">
              <a:solidFill>
                <a:schemeClr val="dk2"/>
              </a:solidFill>
              <a:latin typeface="Lato"/>
              <a:ea typeface="Lato"/>
              <a:cs typeface="Lato"/>
              <a:sym typeface="Lato"/>
            </a:endParaRPr>
          </a:p>
          <a:p>
            <a:pPr indent="-317500" lvl="0" marL="457200" rtl="0" algn="l">
              <a:lnSpc>
                <a:spcPct val="115000"/>
              </a:lnSpc>
              <a:spcBef>
                <a:spcPts val="0"/>
              </a:spcBef>
              <a:spcAft>
                <a:spcPts val="0"/>
              </a:spcAft>
              <a:buClr>
                <a:schemeClr val="lt1"/>
              </a:buClr>
              <a:buSzPts val="1400"/>
              <a:buFont typeface="Times New Roman"/>
              <a:buChar char="●"/>
            </a:pPr>
            <a:r>
              <a:rPr b="1" lang="en">
                <a:solidFill>
                  <a:schemeClr val="lt1"/>
                </a:solidFill>
                <a:latin typeface="Times New Roman"/>
                <a:ea typeface="Times New Roman"/>
                <a:cs typeface="Times New Roman"/>
                <a:sym typeface="Times New Roman"/>
              </a:rPr>
              <a:t>User interacts with CLI (</a:t>
            </a:r>
            <a:r>
              <a:rPr b="1" lang="en" u="sng">
                <a:solidFill>
                  <a:schemeClr val="hlink"/>
                </a:solidFill>
                <a:latin typeface="Times New Roman"/>
                <a:ea typeface="Times New Roman"/>
                <a:cs typeface="Times New Roman"/>
                <a:sym typeface="Times New Roman"/>
                <a:hlinkClick r:id="rId3"/>
              </a:rPr>
              <a:t>main.py</a:t>
            </a:r>
            <a:r>
              <a:rPr b="1" lang="en">
                <a:solidFill>
                  <a:schemeClr val="lt1"/>
                </a:solidFill>
                <a:latin typeface="Times New Roman"/>
                <a:ea typeface="Times New Roman"/>
                <a:cs typeface="Times New Roman"/>
                <a:sym typeface="Times New Roman"/>
              </a:rPr>
              <a:t>)</a:t>
            </a:r>
            <a:endParaRPr b="1">
              <a:solidFill>
                <a:schemeClr val="lt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lt1"/>
              </a:buClr>
              <a:buSzPts val="1400"/>
              <a:buFont typeface="Times New Roman"/>
              <a:buChar char="●"/>
            </a:pPr>
            <a:r>
              <a:rPr b="1" lang="en">
                <a:solidFill>
                  <a:schemeClr val="lt1"/>
                </a:solidFill>
                <a:latin typeface="Times New Roman"/>
                <a:ea typeface="Times New Roman"/>
                <a:cs typeface="Times New Roman"/>
                <a:sym typeface="Times New Roman"/>
              </a:rPr>
              <a:t>Python modules handle business logic</a:t>
            </a:r>
            <a:endParaRPr b="1">
              <a:solidFill>
                <a:schemeClr val="lt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lt1"/>
              </a:buClr>
              <a:buSzPts val="1400"/>
              <a:buFont typeface="Times New Roman"/>
              <a:buChar char="●"/>
            </a:pPr>
            <a:r>
              <a:rPr b="1" lang="en">
                <a:solidFill>
                  <a:schemeClr val="lt1"/>
                </a:solidFill>
                <a:latin typeface="Times New Roman"/>
                <a:ea typeface="Times New Roman"/>
                <a:cs typeface="Times New Roman"/>
                <a:sym typeface="Times New Roman"/>
              </a:rPr>
              <a:t>SQLite stores employees and projects</a:t>
            </a:r>
            <a:endParaRPr b="1">
              <a:solidFill>
                <a:schemeClr val="lt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lt1"/>
              </a:buClr>
              <a:buSzPts val="1400"/>
              <a:buFont typeface="Times New Roman"/>
              <a:buChar char="●"/>
            </a:pPr>
            <a:r>
              <a:rPr b="1" lang="en">
                <a:solidFill>
                  <a:schemeClr val="lt1"/>
                </a:solidFill>
                <a:latin typeface="Times New Roman"/>
                <a:ea typeface="Times New Roman"/>
                <a:cs typeface="Times New Roman"/>
                <a:sym typeface="Times New Roman"/>
              </a:rPr>
              <a:t>MongoDB stores performance reviews</a:t>
            </a:r>
            <a:endParaRPr b="1">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dk2"/>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2400300" y="421525"/>
            <a:ext cx="6321600" cy="635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b="0" lang="en">
                <a:solidFill>
                  <a:schemeClr val="dk1"/>
                </a:solidFill>
                <a:latin typeface="Arial"/>
                <a:ea typeface="Arial"/>
                <a:cs typeface="Arial"/>
                <a:sym typeface="Arial"/>
              </a:rPr>
              <a:t>SQL Database Design</a:t>
            </a:r>
            <a:endParaRPr>
              <a:solidFill>
                <a:schemeClr val="dk1"/>
              </a:solidFill>
            </a:endParaRPr>
          </a:p>
        </p:txBody>
      </p:sp>
      <p:sp>
        <p:nvSpPr>
          <p:cNvPr id="104" name="Google Shape;104;p18"/>
          <p:cNvSpPr txBox="1"/>
          <p:nvPr>
            <p:ph idx="1" type="body"/>
          </p:nvPr>
        </p:nvSpPr>
        <p:spPr>
          <a:xfrm>
            <a:off x="-59400" y="1139425"/>
            <a:ext cx="3000000" cy="3002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Arial"/>
              <a:buChar char="●"/>
            </a:pPr>
            <a:r>
              <a:rPr lang="en" sz="1800">
                <a:latin typeface="Arial"/>
                <a:ea typeface="Arial"/>
                <a:cs typeface="Arial"/>
                <a:sym typeface="Arial"/>
              </a:rPr>
              <a:t>Employees Table Fields:</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employee_id (Primary Key)</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First_name</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Last_name</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email (Unique)</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Hire_date</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department</a:t>
            </a:r>
            <a:endParaRPr sz="1800">
              <a:latin typeface="Arial"/>
              <a:ea typeface="Arial"/>
              <a:cs typeface="Arial"/>
              <a:sym typeface="Arial"/>
            </a:endParaRPr>
          </a:p>
          <a:p>
            <a:pPr indent="0" lvl="0" marL="0" rtl="0" algn="l">
              <a:spcBef>
                <a:spcPts val="0"/>
              </a:spcBef>
              <a:spcAft>
                <a:spcPts val="1200"/>
              </a:spcAft>
              <a:buNone/>
            </a:pPr>
            <a:r>
              <a:t/>
            </a:r>
            <a:endParaRPr b="1" sz="2100">
              <a:solidFill>
                <a:schemeClr val="dk1"/>
              </a:solidFill>
            </a:endParaRPr>
          </a:p>
        </p:txBody>
      </p:sp>
      <p:sp>
        <p:nvSpPr>
          <p:cNvPr id="105" name="Google Shape;105;p18"/>
          <p:cNvSpPr txBox="1"/>
          <p:nvPr>
            <p:ph idx="2" type="body"/>
          </p:nvPr>
        </p:nvSpPr>
        <p:spPr>
          <a:xfrm>
            <a:off x="5869325" y="1139425"/>
            <a:ext cx="3393000" cy="3411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Arial"/>
              <a:buChar char="●"/>
            </a:pPr>
            <a:r>
              <a:rPr lang="en" sz="1800">
                <a:latin typeface="Arial"/>
                <a:ea typeface="Arial"/>
                <a:cs typeface="Arial"/>
                <a:sym typeface="Arial"/>
              </a:rPr>
              <a:t>Employee Projects Table (Junction Table):</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assignment_id (Primary Key)</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employee_id (Foreign Key)</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project_id (Foreign Key)</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role</a:t>
            </a:r>
            <a:endParaRPr sz="1800">
              <a:latin typeface="Arial"/>
              <a:ea typeface="Arial"/>
              <a:cs typeface="Arial"/>
              <a:sym typeface="Arial"/>
            </a:endParaRPr>
          </a:p>
          <a:p>
            <a:pPr indent="-342900" lvl="0" marL="457200" rtl="0" algn="l">
              <a:spcBef>
                <a:spcPts val="0"/>
              </a:spcBef>
              <a:spcAft>
                <a:spcPts val="0"/>
              </a:spcAft>
              <a:buSzPts val="1800"/>
              <a:buFont typeface="Arial"/>
              <a:buAutoNum type="arabicPeriod"/>
            </a:pPr>
            <a:r>
              <a:rPr lang="en" sz="1800">
                <a:latin typeface="Arial"/>
                <a:ea typeface="Arial"/>
                <a:cs typeface="Arial"/>
                <a:sym typeface="Arial"/>
              </a:rPr>
              <a:t>assignment_date</a:t>
            </a:r>
            <a:endParaRPr sz="1800">
              <a:latin typeface="Arial"/>
              <a:ea typeface="Arial"/>
              <a:cs typeface="Arial"/>
              <a:sym typeface="Arial"/>
            </a:endParaRPr>
          </a:p>
          <a:p>
            <a:pPr indent="0" lvl="0" marL="0" rtl="0" algn="l">
              <a:spcBef>
                <a:spcPts val="0"/>
              </a:spcBef>
              <a:spcAft>
                <a:spcPts val="1200"/>
              </a:spcAft>
              <a:buNone/>
            </a:pPr>
            <a:r>
              <a:t/>
            </a:r>
            <a:endParaRPr sz="1600"/>
          </a:p>
        </p:txBody>
      </p:sp>
      <p:sp>
        <p:nvSpPr>
          <p:cNvPr id="106" name="Google Shape;106;p18"/>
          <p:cNvSpPr txBox="1"/>
          <p:nvPr/>
        </p:nvSpPr>
        <p:spPr>
          <a:xfrm>
            <a:off x="2797925" y="1139425"/>
            <a:ext cx="30714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Font typeface="Arial"/>
              <a:buChar char="●"/>
            </a:pPr>
            <a:r>
              <a:rPr lang="en" sz="1800">
                <a:solidFill>
                  <a:schemeClr val="dk2"/>
                </a:solidFill>
              </a:rPr>
              <a:t>Projects Table Fields:</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AutoNum type="arabicPeriod"/>
            </a:pPr>
            <a:r>
              <a:rPr lang="en" sz="1800">
                <a:solidFill>
                  <a:schemeClr val="dk2"/>
                </a:solidFill>
              </a:rPr>
              <a:t>project_id (Primary Key)</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AutoNum type="arabicPeriod"/>
            </a:pPr>
            <a:r>
              <a:rPr lang="en" sz="1800">
                <a:solidFill>
                  <a:schemeClr val="dk2"/>
                </a:solidFill>
              </a:rPr>
              <a:t>Project_name</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AutoNum type="arabicPeriod"/>
            </a:pPr>
            <a:r>
              <a:rPr lang="en" sz="1800">
                <a:solidFill>
                  <a:schemeClr val="dk2"/>
                </a:solidFill>
              </a:rPr>
              <a:t>Start_date</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AutoNum type="arabicPeriod"/>
            </a:pPr>
            <a:r>
              <a:rPr lang="en" sz="1800">
                <a:solidFill>
                  <a:schemeClr val="dk2"/>
                </a:solidFill>
              </a:rPr>
              <a:t>End_date</a:t>
            </a:r>
            <a:endParaRPr sz="1800">
              <a:solidFill>
                <a:schemeClr val="dk2"/>
              </a:solidFill>
            </a:endParaRPr>
          </a:p>
          <a:p>
            <a:pPr indent="-342900" lvl="0" marL="457200" rtl="0" algn="l">
              <a:lnSpc>
                <a:spcPct val="115000"/>
              </a:lnSpc>
              <a:spcBef>
                <a:spcPts val="0"/>
              </a:spcBef>
              <a:spcAft>
                <a:spcPts val="0"/>
              </a:spcAft>
              <a:buClr>
                <a:schemeClr val="dk2"/>
              </a:buClr>
              <a:buSzPts val="1800"/>
              <a:buFont typeface="Arial"/>
              <a:buAutoNum type="arabicPeriod"/>
            </a:pPr>
            <a:r>
              <a:rPr lang="en" sz="1800">
                <a:solidFill>
                  <a:schemeClr val="dk2"/>
                </a:solidFill>
              </a:rPr>
              <a:t>status</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nvSpPr>
        <p:spPr>
          <a:xfrm>
            <a:off x="237575" y="0"/>
            <a:ext cx="96426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3000">
                <a:solidFill>
                  <a:schemeClr val="dk1"/>
                </a:solidFill>
              </a:rPr>
              <a:t>NoSQL Database Design (MongoDB)</a:t>
            </a:r>
            <a:endParaRPr b="1" sz="3000">
              <a:solidFill>
                <a:schemeClr val="dk1"/>
              </a:solidFill>
            </a:endParaRPr>
          </a:p>
        </p:txBody>
      </p:sp>
      <p:sp>
        <p:nvSpPr>
          <p:cNvPr id="112" name="Google Shape;112;p19"/>
          <p:cNvSpPr txBox="1"/>
          <p:nvPr/>
        </p:nvSpPr>
        <p:spPr>
          <a:xfrm>
            <a:off x="184175" y="576600"/>
            <a:ext cx="9749400" cy="4566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2"/>
              </a:buClr>
              <a:buSzPts val="1400"/>
              <a:buChar char="●"/>
            </a:pPr>
            <a:r>
              <a:rPr b="1" lang="en">
                <a:solidFill>
                  <a:schemeClr val="dk2"/>
                </a:solidFill>
              </a:rPr>
              <a:t>review_id</a:t>
            </a:r>
            <a:r>
              <a:rPr lang="en">
                <a:solidFill>
                  <a:schemeClr val="dk2"/>
                </a:solidFill>
              </a:rPr>
              <a:t> – Unique identifier for each review (automatically generated by MongoDB </a:t>
            </a:r>
            <a:r>
              <a:rPr lang="en">
                <a:solidFill>
                  <a:srgbClr val="188038"/>
                </a:solidFill>
                <a:latin typeface="Roboto Mono"/>
                <a:ea typeface="Roboto Mono"/>
                <a:cs typeface="Roboto Mono"/>
                <a:sym typeface="Roboto Mono"/>
              </a:rPr>
              <a:t>_id</a:t>
            </a:r>
            <a:r>
              <a:rPr lang="en">
                <a:solidFill>
                  <a:schemeClr val="dk2"/>
                </a:solidFill>
              </a:rPr>
              <a:t>)</a:t>
            </a:r>
            <a:br>
              <a:rPr lang="en">
                <a:solidFill>
                  <a:schemeClr val="dk2"/>
                </a:solidFill>
              </a:rPr>
            </a:b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employee_id</a:t>
            </a:r>
            <a:r>
              <a:rPr lang="en">
                <a:solidFill>
                  <a:schemeClr val="dk2"/>
                </a:solidFill>
              </a:rPr>
              <a:t> – ID of the employee being reviewed (links to </a:t>
            </a:r>
            <a:r>
              <a:rPr lang="en">
                <a:solidFill>
                  <a:srgbClr val="188038"/>
                </a:solidFill>
                <a:latin typeface="Roboto Mono"/>
                <a:ea typeface="Roboto Mono"/>
                <a:cs typeface="Roboto Mono"/>
                <a:sym typeface="Roboto Mono"/>
              </a:rPr>
              <a:t>Employees</a:t>
            </a:r>
            <a:r>
              <a:rPr lang="en">
                <a:solidFill>
                  <a:schemeClr val="dk2"/>
                </a:solidFill>
              </a:rPr>
              <a:t> table in SQL)</a:t>
            </a:r>
            <a:br>
              <a:rPr lang="en">
                <a:solidFill>
                  <a:schemeClr val="dk2"/>
                </a:solidFill>
              </a:rPr>
            </a:b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review_date</a:t>
            </a:r>
            <a:r>
              <a:rPr lang="en">
                <a:solidFill>
                  <a:schemeClr val="dk2"/>
                </a:solidFill>
              </a:rPr>
              <a:t> – Date when the performance review was conducted</a:t>
            </a:r>
            <a:br>
              <a:rPr lang="en">
                <a:solidFill>
                  <a:schemeClr val="dk2"/>
                </a:solidFill>
              </a:rPr>
            </a:b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reviewer_name</a:t>
            </a:r>
            <a:r>
              <a:rPr lang="en">
                <a:solidFill>
                  <a:schemeClr val="dk2"/>
                </a:solidFill>
              </a:rPr>
              <a:t> – Name of the person who conducted the review</a:t>
            </a:r>
            <a:br>
              <a:rPr lang="en">
                <a:solidFill>
                  <a:schemeClr val="dk2"/>
                </a:solidFill>
              </a:rPr>
            </a:b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overall_rating</a:t>
            </a:r>
            <a:r>
              <a:rPr lang="en">
                <a:solidFill>
                  <a:schemeClr val="dk2"/>
                </a:solidFill>
              </a:rPr>
              <a:t> – Numeric rating given to the employee (e.g., 1–5)</a:t>
            </a:r>
            <a:br>
              <a:rPr lang="en">
                <a:solidFill>
                  <a:schemeClr val="dk2"/>
                </a:solidFill>
              </a:rPr>
            </a:b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strengths</a:t>
            </a:r>
            <a:r>
              <a:rPr lang="en">
                <a:solidFill>
                  <a:schemeClr val="dk2"/>
                </a:solidFill>
              </a:rPr>
              <a:t> – List of key strengths demonstrated by the employee</a:t>
            </a:r>
            <a:br>
              <a:rPr lang="en">
                <a:solidFill>
                  <a:schemeClr val="dk2"/>
                </a:solidFill>
              </a:rPr>
            </a:b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areas_for_improvement</a:t>
            </a:r>
            <a:r>
              <a:rPr lang="en">
                <a:solidFill>
                  <a:schemeClr val="dk2"/>
                </a:solidFill>
              </a:rPr>
              <a:t> – List of areas where the employee can improve</a:t>
            </a:r>
            <a:br>
              <a:rPr lang="en">
                <a:solidFill>
                  <a:schemeClr val="dk2"/>
                </a:solidFill>
              </a:rPr>
            </a:b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b="1" lang="en">
                <a:solidFill>
                  <a:schemeClr val="dk2"/>
                </a:solidFill>
              </a:rPr>
              <a:t>comments</a:t>
            </a:r>
            <a:r>
              <a:rPr lang="en">
                <a:solidFill>
                  <a:schemeClr val="dk2"/>
                </a:solidFill>
              </a:rPr>
              <a:t> – Additional feedback about the employee's performance</a:t>
            </a:r>
            <a:br>
              <a:rPr lang="en">
                <a:solidFill>
                  <a:schemeClr val="dk2"/>
                </a:solidFill>
              </a:rPr>
            </a:br>
            <a:endParaRPr>
              <a:solidFill>
                <a:schemeClr val="dk2"/>
              </a:solidFill>
            </a:endParaRPr>
          </a:p>
          <a:p>
            <a:pPr indent="-298450" lvl="0" marL="457200" rtl="0" algn="l">
              <a:lnSpc>
                <a:spcPct val="115000"/>
              </a:lnSpc>
              <a:spcBef>
                <a:spcPts val="0"/>
              </a:spcBef>
              <a:spcAft>
                <a:spcPts val="0"/>
              </a:spcAft>
              <a:buClr>
                <a:schemeClr val="dk2"/>
              </a:buClr>
              <a:buSzPts val="1100"/>
              <a:buChar char="●"/>
            </a:pPr>
            <a:r>
              <a:rPr b="1" lang="en">
                <a:solidFill>
                  <a:schemeClr val="dk2"/>
                </a:solidFill>
              </a:rPr>
              <a:t>goals_for_next_period</a:t>
            </a:r>
            <a:r>
              <a:rPr lang="en">
                <a:solidFill>
                  <a:schemeClr val="dk2"/>
                </a:solidFill>
              </a:rPr>
              <a:t> – Goals assigned for the next review period</a:t>
            </a:r>
            <a:br>
              <a:rPr lang="en" sz="1100">
                <a:solidFill>
                  <a:schemeClr val="dk2"/>
                </a:solidFill>
              </a:rPr>
            </a:br>
            <a:endParaRPr sz="11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Beautify this slide" id="117" name="Google Shape;117;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 Diagram</a:t>
            </a:r>
            <a:endParaRPr/>
          </a:p>
        </p:txBody>
      </p:sp>
      <p:pic>
        <p:nvPicPr>
          <p:cNvPr id="123" name="Google Shape;123;p21" title="9BADB6D0-87EF-453F-85D4-74778DADC72B.png"/>
          <p:cNvPicPr preferRelativeResize="0"/>
          <p:nvPr/>
        </p:nvPicPr>
        <p:blipFill>
          <a:blip r:embed="rId3">
            <a:alphaModFix/>
          </a:blip>
          <a:stretch>
            <a:fillRect/>
          </a:stretch>
        </p:blipFill>
        <p:spPr>
          <a:xfrm>
            <a:off x="1272825" y="1121525"/>
            <a:ext cx="7449024" cy="36273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Beautify this slide" id="128" name="Google Shape;128;p2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134" name="Google Shape;134;p23"/>
          <p:cNvSpPr txBox="1"/>
          <p:nvPr>
            <p:ph idx="2" type="body"/>
          </p:nvPr>
        </p:nvSpPr>
        <p:spPr>
          <a:xfrm>
            <a:off x="4572000" y="36000"/>
            <a:ext cx="4572000" cy="5071500"/>
          </a:xfrm>
          <a:prstGeom prst="rect">
            <a:avLst/>
          </a:prstGeom>
        </p:spPr>
        <p:txBody>
          <a:bodyPr anchorCtr="0" anchor="ctr"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lang="en">
                <a:latin typeface="Arial"/>
                <a:ea typeface="Arial"/>
                <a:cs typeface="Arial"/>
                <a:sym typeface="Arial"/>
              </a:rPr>
              <a:t>This project demonstrates how to build a data-driven system using Python, SQL (SQLite), and NoSQL (MongoDB) to manage employee data, project assignments, and performance reviews. It highlights database design, CRUD operations, reporting, and modular application development, providing practical experience in handling structured and semi-structured data efficiently.</a:t>
            </a:r>
            <a:endParaRPr>
              <a:latin typeface="Arial"/>
              <a:ea typeface="Arial"/>
              <a:cs typeface="Arial"/>
              <a:sym typeface="Arial"/>
            </a:endParaRPr>
          </a:p>
          <a:p>
            <a:pPr indent="0" lvl="0" marL="457200" rtl="0" algn="l">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